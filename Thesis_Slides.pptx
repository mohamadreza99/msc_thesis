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60" r:id="rId3"/>
    <p:sldId id="261" r:id="rId4"/>
    <p:sldId id="262" r:id="rId5"/>
    <p:sldId id="263" r:id="rId6"/>
    <p:sldId id="264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267" r:id="rId15"/>
    <p:sldId id="265" r:id="rId16"/>
    <p:sldId id="283" r:id="rId17"/>
    <p:sldId id="282" r:id="rId18"/>
    <p:sldId id="287" r:id="rId19"/>
    <p:sldId id="284" r:id="rId20"/>
    <p:sldId id="285" r:id="rId21"/>
    <p:sldId id="286" r:id="rId22"/>
    <p:sldId id="266" r:id="rId23"/>
    <p:sldId id="290" r:id="rId24"/>
    <p:sldId id="291" r:id="rId25"/>
    <p:sldId id="288" r:id="rId26"/>
    <p:sldId id="289" r:id="rId27"/>
    <p:sldId id="292" r:id="rId28"/>
    <p:sldId id="293" r:id="rId29"/>
    <p:sldId id="294" r:id="rId30"/>
    <p:sldId id="295" r:id="rId31"/>
    <p:sldId id="298" r:id="rId32"/>
    <p:sldId id="296" r:id="rId33"/>
    <p:sldId id="297" r:id="rId34"/>
    <p:sldId id="300" r:id="rId35"/>
    <p:sldId id="299" r:id="rId36"/>
    <p:sldId id="301" r:id="rId37"/>
    <p:sldId id="268" r:id="rId38"/>
    <p:sldId id="28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3"/>
    <p:restoredTop sz="89542"/>
  </p:normalViewPr>
  <p:slideViewPr>
    <p:cSldViewPr snapToGrid="0">
      <p:cViewPr varScale="1">
        <p:scale>
          <a:sx n="144" d="100"/>
          <a:sy n="144" d="100"/>
        </p:scale>
        <p:origin x="1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B4B7B-EC5B-3A42-8BB6-5934F561879C}" type="datetimeFigureOut">
              <a:rPr lang="en-US" smtClean="0"/>
              <a:t>2/19/24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4ABC8-BE50-B24C-B412-04CC64A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Expanding data by data augmentation, self supervised (contrastive) learning, Generative Learning don’t work on limited data. As they have bias on the few data.</a:t>
            </a:r>
            <a:br>
              <a:rPr lang="en-US" dirty="0"/>
            </a:br>
            <a:r>
              <a:rPr lang="en-US" dirty="0"/>
              <a:t>For Expert systems, we use hierarchical approach and a multi task learning schema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BC8-BE50-B24C-B412-04CC64A9C5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7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humans perceive world hierarchically</a:t>
            </a:r>
          </a:p>
          <a:p>
            <a:r>
              <a:rPr lang="en-US" dirty="0"/>
              <a:t>Tight decision boundaries =&gt; imposing an inductive bias to generate hierarchy aware embeddings</a:t>
            </a:r>
          </a:p>
          <a:p>
            <a:r>
              <a:rPr lang="en-US" dirty="0"/>
              <a:t>Error propagation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BC8-BE50-B24C-B412-04CC64A9C5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dirty="0"/>
              <a:t>اهمیت و کاربرد گفته بشه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BC8-BE50-B24C-B412-04CC64A9C5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49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dirty="0"/>
              <a:t>Main Challenge is we have bias on few samples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ABC8-BE50-B24C-B412-04CC64A9C5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98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DA9EF-CB47-4736-9A79-81E61713104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8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60C1-8033-01DE-6C84-94776643A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3CD07-5D51-257B-193F-3B5400BF0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71246-4187-51B8-717C-A20F07CA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7094-E4D4-5146-A788-EF1BE1B77448}" type="datetime1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E9E02-7E6D-18CB-6424-BEE6F534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F0A2F-88FC-3058-87A2-BB5A9DB7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8C6F-92FA-EA68-B83C-791E58B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C384-E0D6-B251-EE16-5CEB4AE15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C32D6-0760-B0EB-8CAC-E5BC45B5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87F8-020E-8F49-8CB1-06A9F6B922FD}" type="datetime1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EDB80-504D-D855-095E-9F5E7FF8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B1E6A-0786-5141-B673-AC0F3579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78105" y="6437032"/>
            <a:ext cx="2873187" cy="365125"/>
          </a:xfrm>
        </p:spPr>
        <p:txBody>
          <a:bodyPr/>
          <a:lstStyle>
            <a:lvl1pPr>
              <a:defRPr sz="2800"/>
            </a:lvl1pPr>
          </a:lstStyle>
          <a:p>
            <a:fld id="{5A7D67B8-CDBF-E44A-A4FB-603F8C5635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51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2F1F-0056-DA3C-11DE-D345997F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52EC5-2BA4-0189-E499-C05157024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1C7C7-F9DD-9CD3-F9DE-87A68C41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A7D66-7505-874C-B29E-C8C6DD56A5A6}" type="datetime1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ACDCE-87A5-7B63-FC79-594A24C9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5C833-A27B-A776-5E27-404856AE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6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6354F-62C6-0020-DF62-80E6ADE6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B70C1-3220-B687-1646-C335CF060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A0980-DE6F-098C-DB79-1AF4D41D7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B13F4-7800-2E7F-8365-452437F0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63BB-E6D2-A94F-9E13-3DDD36429284}" type="datetime1">
              <a:rPr lang="en-US" smtClean="0"/>
              <a:t>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8AE31-37EF-A637-12EE-0ED0FB60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4623D-DA13-1DBA-0BF1-307A23D8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1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A84F-20D1-53DD-8F45-682107F43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AA813-23E1-EC11-1B81-96671F080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26CD3-7001-158F-5C1A-28275557D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62AFD-6D9C-3E4B-E2DF-7002784DB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5615B-A2E9-C5D0-9884-C490A654C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277CE-6965-C2E8-7D50-AE795E99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47A54-B863-8C4E-94E7-BDB581DD3864}" type="datetime1">
              <a:rPr lang="en-US" smtClean="0"/>
              <a:t>2/19/24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7D368-661A-2B35-FC8D-077BB349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46B45-0845-04B9-40BB-6AB7C3A2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6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BD38-DABB-93F7-EA11-B096BA1F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002C41-4DC3-DC46-B97C-5FBCFAB3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C191-58BC-BC49-A489-470ECD010848}" type="datetime1">
              <a:rPr lang="en-US" smtClean="0"/>
              <a:t>2/19/24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2C061-F8A6-0BF6-F53A-2AADCD1D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CD847-8BFD-5156-EE17-B10A5A19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2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7B924-6947-B51B-4091-A50C46721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65287-B699-AD4E-8F56-F8CCF3DBAE95}" type="datetime1">
              <a:rPr lang="en-US" smtClean="0"/>
              <a:t>2/19/24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3BA61-4925-C5FE-897A-83956EBD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06D2-5D8B-D9D4-15A6-72FF6532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7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9E04-77A2-0991-75CB-C9D73A6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4A8C4-FBF7-EA13-95D8-46088A83F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EA19C-29A9-AC19-5774-C508854CA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DDC4D-4400-39CE-69DC-BD8AAC2E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8B46E-63D5-5048-BD3B-32A043F4A315}" type="datetime1">
              <a:rPr lang="en-US" smtClean="0"/>
              <a:t>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4EEDF-533D-A7A2-9706-AD9B427F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A5EF4-4044-E44A-F37D-55B1851A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1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2034-48F4-92DB-420A-7BCBD74F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72DB1-AB74-A929-81C2-A39B0E47D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8B0D9-3270-EBCD-1E6E-9DAB6A67A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862D0-C641-A269-95BF-6C895415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4A39-3DE1-9A4A-9054-61BCBB4D99F4}" type="datetime1">
              <a:rPr lang="en-US" smtClean="0"/>
              <a:t>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E7770-5759-0E5A-75C1-84C1F06B7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CCA91-35F5-C09D-8175-4491F21F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8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4938-8681-44EC-034F-76688393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08C98-366A-8AC1-64C3-FE554C676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062A-808A-D3BE-91CF-9ECA53E9D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A597-DE08-2441-93DB-46E4654E5DE3}" type="datetime1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61A02-D848-B09B-F29E-533EC076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A251B-01FD-DDA3-1DC5-42173D9B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4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2B441-B9A5-F687-BE8C-9EDD0409F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E5D78-94AF-EE7C-8B3D-948661852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06B03-2879-0A9D-20B0-63A6C283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67FE-9EF9-E240-8149-E2B672EEF470}" type="datetime1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12A23-1950-E394-6198-681F3E7F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3D25C-C18B-E68A-F72A-EA01DA48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44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58634-0DEF-0C9B-A16D-C19C205C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BB4F-08E3-2408-C829-46FEC1BD6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73168-3A9F-9B4A-CCAD-6798449D3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2FECF-73C3-F344-9166-08FA5D0A0220}" type="datetime1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92830-1F41-C119-A333-1C75A5F2D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927B0-440E-DE4D-D721-8D310338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D67B8-CDBF-E44A-A4FB-603F8C563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6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B56FC4-DA64-A78B-332A-FD0D3BA1AB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8" t="905" r="29069" b="10470"/>
          <a:stretch/>
        </p:blipFill>
        <p:spPr>
          <a:xfrm>
            <a:off x="10130166" y="0"/>
            <a:ext cx="206183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1541F7-58B5-45EF-4CAC-5DD88DCFB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87" y="636357"/>
            <a:ext cx="9144000" cy="2387600"/>
          </a:xfrm>
        </p:spPr>
        <p:txBody>
          <a:bodyPr/>
          <a:lstStyle/>
          <a:p>
            <a:r>
              <a:rPr lang="en-US" dirty="0"/>
              <a:t>Large-Scale Few-Shot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E4C92-1F5A-25CD-4D6A-F366ED9B7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87" y="3557433"/>
            <a:ext cx="9144000" cy="1148638"/>
          </a:xfrm>
        </p:spPr>
        <p:txBody>
          <a:bodyPr>
            <a:normAutofit/>
          </a:bodyPr>
          <a:lstStyle/>
          <a:p>
            <a:r>
              <a:rPr lang="en-US" dirty="0"/>
              <a:t>By </a:t>
            </a:r>
            <a:r>
              <a:rPr lang="en-US" dirty="0" err="1"/>
              <a:t>Mohamadreza</a:t>
            </a:r>
            <a:r>
              <a:rPr lang="en-US" dirty="0"/>
              <a:t> </a:t>
            </a:r>
            <a:r>
              <a:rPr lang="en-US" dirty="0" err="1"/>
              <a:t>Fereydooni</a:t>
            </a:r>
            <a:endParaRPr lang="en-US" dirty="0"/>
          </a:p>
          <a:p>
            <a:r>
              <a:rPr lang="en-US" sz="1800" dirty="0"/>
              <a:t>       MSc Thesis Presentation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1FFD46-6960-1AE9-6172-5E89AC20A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749" y="3808790"/>
            <a:ext cx="694558" cy="69455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91B46A-4AC5-8151-3F0F-15677A56F53C}"/>
              </a:ext>
            </a:extLst>
          </p:cNvPr>
          <p:cNvGrpSpPr/>
          <p:nvPr/>
        </p:nvGrpSpPr>
        <p:grpSpPr>
          <a:xfrm>
            <a:off x="1271910" y="4823021"/>
            <a:ext cx="7596354" cy="923330"/>
            <a:chOff x="1755228" y="4887310"/>
            <a:chExt cx="7596354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B57902-88C1-4197-8F19-A27078A8ED9E}"/>
                </a:ext>
              </a:extLst>
            </p:cNvPr>
            <p:cNvSpPr txBox="1"/>
            <p:nvPr/>
          </p:nvSpPr>
          <p:spPr>
            <a:xfrm>
              <a:off x="1755228" y="4887310"/>
              <a:ext cx="25321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Supervisor</a:t>
              </a:r>
            </a:p>
            <a:p>
              <a:pPr algn="ctr"/>
              <a:r>
                <a:rPr lang="en-US" dirty="0"/>
                <a:t> Dr. </a:t>
              </a:r>
              <a:r>
                <a:rPr lang="en-US" dirty="0" err="1"/>
                <a:t>Mahdieh</a:t>
              </a:r>
              <a:r>
                <a:rPr lang="en-US" dirty="0"/>
                <a:t> </a:t>
              </a:r>
              <a:r>
                <a:rPr lang="en-US" dirty="0" err="1"/>
                <a:t>Soleymani</a:t>
              </a:r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9202A5-7BEC-6336-19C6-F3AFF0821C0E}"/>
                </a:ext>
              </a:extLst>
            </p:cNvPr>
            <p:cNvSpPr txBox="1"/>
            <p:nvPr/>
          </p:nvSpPr>
          <p:spPr>
            <a:xfrm>
              <a:off x="4287346" y="4887310"/>
              <a:ext cx="25321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Internal </a:t>
              </a:r>
              <a:r>
                <a:rPr lang="en-US" dirty="0" err="1"/>
                <a:t>Refree</a:t>
              </a:r>
              <a:endParaRPr lang="en-US" dirty="0"/>
            </a:p>
            <a:p>
              <a:pPr algn="ctr"/>
              <a:r>
                <a:rPr lang="en-US" dirty="0"/>
                <a:t> Dr. </a:t>
              </a:r>
              <a:r>
                <a:rPr lang="en-US" dirty="0" err="1"/>
                <a:t>Hamidreza</a:t>
              </a:r>
              <a:r>
                <a:rPr lang="en-US" dirty="0"/>
                <a:t> </a:t>
              </a:r>
              <a:r>
                <a:rPr lang="en-US" dirty="0" err="1"/>
                <a:t>Rabiee</a:t>
              </a:r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009C6A-344E-D39B-911C-8A5732E28697}"/>
                </a:ext>
              </a:extLst>
            </p:cNvPr>
            <p:cNvSpPr txBox="1"/>
            <p:nvPr/>
          </p:nvSpPr>
          <p:spPr>
            <a:xfrm>
              <a:off x="6819464" y="4887310"/>
              <a:ext cx="25321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External </a:t>
              </a:r>
              <a:r>
                <a:rPr lang="en-US" dirty="0" err="1"/>
                <a:t>Refree</a:t>
              </a:r>
              <a:endParaRPr lang="en-US" dirty="0"/>
            </a:p>
            <a:p>
              <a:pPr algn="ctr"/>
              <a:r>
                <a:rPr lang="en-US" dirty="0"/>
                <a:t> Dr. Emad </a:t>
              </a:r>
              <a:r>
                <a:rPr lang="en-US" dirty="0" err="1"/>
                <a:t>Fatemizadeh</a:t>
              </a:r>
              <a:endParaRPr lang="en-US" dirty="0"/>
            </a:p>
            <a:p>
              <a:pPr algn="ctr"/>
              <a:endParaRPr lang="en-US" dirty="0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75877A19-092F-D9F5-3D61-82C4D70B979C}"/>
              </a:ext>
            </a:extLst>
          </p:cNvPr>
          <p:cNvSpPr txBox="1">
            <a:spLocks/>
          </p:cNvSpPr>
          <p:nvPr/>
        </p:nvSpPr>
        <p:spPr>
          <a:xfrm>
            <a:off x="1093501" y="3154236"/>
            <a:ext cx="1424295" cy="316110"/>
          </a:xfrm>
          <a:prstGeom prst="rect">
            <a:avLst/>
          </a:prstGeom>
          <a:solidFill>
            <a:srgbClr val="EEAA00">
              <a:alpha val="79000"/>
            </a:srgbClr>
          </a:solidFill>
          <a:ln>
            <a:noFill/>
          </a:ln>
          <a:effectLst/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RANSans" panose="02040503050201020203" pitchFamily="18" charset="-78"/>
                <a:ea typeface="Noto Sans" panose="020B0502040504020204" pitchFamily="34" charset="0"/>
                <a:cs typeface="IRANSans" panose="02040503050201020203" pitchFamily="18" charset="-78"/>
              </a:rPr>
              <a:t>30 Bahman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957923-5BA7-219D-288C-3B2C24CF8E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1427" y="5902669"/>
            <a:ext cx="643947" cy="6439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9B7A58-C49C-A889-AC94-64DB4EA8290E}"/>
              </a:ext>
            </a:extLst>
          </p:cNvPr>
          <p:cNvSpPr txBox="1"/>
          <p:nvPr/>
        </p:nvSpPr>
        <p:spPr>
          <a:xfrm>
            <a:off x="2117337" y="6039976"/>
            <a:ext cx="782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Sharif University of Technology | CE Department | Machine Learning Lab.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DCA97D-A85B-5877-7E87-59507B0A1DAE}"/>
              </a:ext>
            </a:extLst>
          </p:cNvPr>
          <p:cNvSpPr txBox="1"/>
          <p:nvPr/>
        </p:nvSpPr>
        <p:spPr>
          <a:xfrm>
            <a:off x="4039170" y="477723"/>
            <a:ext cx="206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Name of God</a:t>
            </a:r>
          </a:p>
        </p:txBody>
      </p:sp>
    </p:spTree>
    <p:extLst>
      <p:ext uri="{BB962C8B-B14F-4D97-AF65-F5344CB8AC3E}">
        <p14:creationId xmlns:p14="http://schemas.microsoft.com/office/powerpoint/2010/main" val="234548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AFC2-5995-A339-1C9A-369E2FEFE35B}"/>
              </a:ext>
            </a:extLst>
          </p:cNvPr>
          <p:cNvSpPr txBox="1"/>
          <p:nvPr/>
        </p:nvSpPr>
        <p:spPr>
          <a:xfrm>
            <a:off x="1647593" y="2190544"/>
            <a:ext cx="70419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88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Motivation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F8B99-84C0-1D48-0102-A79A5B361799}"/>
              </a:ext>
            </a:extLst>
          </p:cNvPr>
          <p:cNvSpPr txBox="1"/>
          <p:nvPr/>
        </p:nvSpPr>
        <p:spPr>
          <a:xfrm>
            <a:off x="4884233" y="1777609"/>
            <a:ext cx="2054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32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" panose="020B0506030804020204" pitchFamily="34" charset="-78"/>
                <a:ea typeface="+mj-ea"/>
                <a:cs typeface="IRANSans" panose="020B0506030804020204" pitchFamily="34" charset="-78"/>
              </a:rPr>
              <a:t>First Section</a:t>
            </a: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CBCDD02-8301-8E02-281B-6C2399D25DE4}"/>
              </a:ext>
            </a:extLst>
          </p:cNvPr>
          <p:cNvSpPr/>
          <p:nvPr/>
        </p:nvSpPr>
        <p:spPr>
          <a:xfrm>
            <a:off x="2085421" y="1382141"/>
            <a:ext cx="538163" cy="538163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E53D65E3-EEF6-47D6-346F-DE00802AB07A}"/>
              </a:ext>
            </a:extLst>
          </p:cNvPr>
          <p:cNvSpPr/>
          <p:nvPr/>
        </p:nvSpPr>
        <p:spPr>
          <a:xfrm>
            <a:off x="10598044" y="4662017"/>
            <a:ext cx="250031" cy="250031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B816AC9-6999-7469-462A-CBAAFB0CF297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ــدمـــــه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6649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76DF1E-FE6B-CBA3-039E-AFC4F5318AA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08597" y="0"/>
            <a:ext cx="2283404" cy="64370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80" y="837959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1965147"/>
            <a:ext cx="10515600" cy="4351338"/>
          </a:xfrm>
        </p:spPr>
        <p:txBody>
          <a:bodyPr>
            <a:normAutofit lnSpcReduction="10000"/>
          </a:bodyPr>
          <a:lstStyle/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Large-Scale Few-Shot Classification</a:t>
            </a:r>
          </a:p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Efficiency &amp; Data Complexity</a:t>
            </a:r>
          </a:p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Expert Systems</a:t>
            </a:r>
          </a:p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Generalization</a:t>
            </a:r>
          </a:p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Inherent Open-set Feature</a:t>
            </a:r>
          </a:p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Inspiration From Human Learning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732E76-A897-8FB9-D678-A234084C0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496" y="3755390"/>
            <a:ext cx="4610100" cy="16637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69C7789-2C3D-37E4-B956-AECDECC545F7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ــدمـــــه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212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899" y="1764300"/>
            <a:ext cx="10515600" cy="4552186"/>
          </a:xfrm>
        </p:spPr>
        <p:txBody>
          <a:bodyPr>
            <a:normAutofit fontScale="92500" lnSpcReduction="10000"/>
          </a:bodyPr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Tight Decision Boundaries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Knowledge Sharing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Sub Population Shift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Gathering for </a:t>
            </a:r>
            <a:r>
              <a:rPr lang="en-US" dirty="0" err="1"/>
              <a:t>Superclasses</a:t>
            </a:r>
            <a:endParaRPr lang="en-US" dirty="0"/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Learning in a Supervised and Semi-supervised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/>
              <a:t>	Setting for Coarse Grained Level</a:t>
            </a:r>
          </a:p>
          <a:p>
            <a:r>
              <a:rPr lang="en-US" dirty="0"/>
              <a:t>Top-down Bayesian approach to provide </a:t>
            </a:r>
          </a:p>
          <a:p>
            <a:pPr marL="0" indent="0">
              <a:buNone/>
            </a:pPr>
            <a:r>
              <a:rPr lang="en-US" dirty="0"/>
              <a:t>	Coarse Grained priors</a:t>
            </a:r>
          </a:p>
          <a:p>
            <a:pPr>
              <a:lnSpc>
                <a:spcPct val="150000"/>
              </a:lnSpc>
            </a:pPr>
            <a:r>
              <a:rPr lang="en-US" dirty="0"/>
              <a:t>Improving discriminability using foundation models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21637A-4AAF-314F-139E-508E31C1E885}"/>
              </a:ext>
            </a:extLst>
          </p:cNvPr>
          <p:cNvSpPr txBox="1">
            <a:spLocks/>
          </p:cNvSpPr>
          <p:nvPr/>
        </p:nvSpPr>
        <p:spPr>
          <a:xfrm>
            <a:off x="474341" y="6141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Definition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EADAD8-1232-8F01-607E-16BF5CB7F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289" y="772584"/>
            <a:ext cx="2523143" cy="5350522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B720A6-2FE6-68BF-A8D0-C0380CE8CDD6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ــدمـــــه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430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3A3BE0-BB8F-3D53-B6DF-D71C3154569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35738" y="0"/>
            <a:ext cx="2256262" cy="64370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Challenges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5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9C9EA6-1978-199A-70D9-63092D75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Limitation of Class Numbers in Few-Shot Settings</a:t>
            </a:r>
          </a:p>
          <a:p>
            <a:pPr>
              <a:lnSpc>
                <a:spcPct val="200000"/>
              </a:lnSpc>
            </a:pPr>
            <a:r>
              <a:rPr lang="en-US" dirty="0"/>
              <a:t>Inherent Open-set Feature of Large-Scale Problems</a:t>
            </a:r>
          </a:p>
          <a:p>
            <a:pPr>
              <a:lnSpc>
                <a:spcPct val="200000"/>
              </a:lnSpc>
            </a:pPr>
            <a:r>
              <a:rPr lang="en-US" dirty="0"/>
              <a:t>Information Fusion From Coarse Grained Level to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	Fine Grained Classifiers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80068-ACC7-09F4-8B38-29B5C98568E3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ــدمـــــه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13351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Main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326" y="183615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We propose a novel large-scale few-shot learning setting by leveraging the natural hierarchy of object categories, designing inductive biases based on that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 utilize pre-trained foundation models as rich embedding networks to increase robustness to the distribution shift and also data efficiency.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 develop a simple strategy for alleviating sub-population shift at the superclass level.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 show that the proposed method can be easily employed in the free-training setting.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6</a:t>
            </a:fld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18C23F41-8F3F-D475-7367-10AE8E15894C}"/>
              </a:ext>
            </a:extLst>
          </p:cNvPr>
          <p:cNvSpPr/>
          <p:nvPr/>
        </p:nvSpPr>
        <p:spPr>
          <a:xfrm>
            <a:off x="742767" y="1964873"/>
            <a:ext cx="330200" cy="330200"/>
          </a:xfrm>
          <a:prstGeom prst="diamond">
            <a:avLst/>
          </a:prstGeom>
          <a:noFill/>
          <a:ln w="476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9A6AFE34-2E74-070D-29EE-AFE79E1C33D9}"/>
              </a:ext>
            </a:extLst>
          </p:cNvPr>
          <p:cNvSpPr/>
          <p:nvPr/>
        </p:nvSpPr>
        <p:spPr>
          <a:xfrm>
            <a:off x="698413" y="3103447"/>
            <a:ext cx="330200" cy="330200"/>
          </a:xfrm>
          <a:prstGeom prst="diamond">
            <a:avLst/>
          </a:prstGeom>
          <a:noFill/>
          <a:ln w="476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3320655-60A2-F2E6-C9F8-4893D431E7A2}"/>
              </a:ext>
            </a:extLst>
          </p:cNvPr>
          <p:cNvSpPr/>
          <p:nvPr/>
        </p:nvSpPr>
        <p:spPr>
          <a:xfrm>
            <a:off x="690989" y="4200952"/>
            <a:ext cx="330200" cy="330200"/>
          </a:xfrm>
          <a:prstGeom prst="diamond">
            <a:avLst/>
          </a:prstGeom>
          <a:noFill/>
          <a:ln w="476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79C155C-E0B4-BB99-5723-C2C70A6DC5F5}"/>
              </a:ext>
            </a:extLst>
          </p:cNvPr>
          <p:cNvSpPr/>
          <p:nvPr/>
        </p:nvSpPr>
        <p:spPr>
          <a:xfrm>
            <a:off x="690989" y="5361500"/>
            <a:ext cx="330200" cy="330200"/>
          </a:xfrm>
          <a:prstGeom prst="diamond">
            <a:avLst/>
          </a:prstGeom>
          <a:noFill/>
          <a:ln w="476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D8E6E78-1D4C-C2B1-C2F3-B259077B676A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ــدمـــــه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9216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AFC2-5995-A339-1C9A-369E2FEFE35B}"/>
              </a:ext>
            </a:extLst>
          </p:cNvPr>
          <p:cNvSpPr txBox="1"/>
          <p:nvPr/>
        </p:nvSpPr>
        <p:spPr>
          <a:xfrm>
            <a:off x="1647592" y="2190544"/>
            <a:ext cx="844642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88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Literature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F8B99-84C0-1D48-0102-A79A5B361799}"/>
              </a:ext>
            </a:extLst>
          </p:cNvPr>
          <p:cNvSpPr txBox="1"/>
          <p:nvPr/>
        </p:nvSpPr>
        <p:spPr>
          <a:xfrm>
            <a:off x="4702628" y="1777609"/>
            <a:ext cx="25687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32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" panose="020B0506030804020204" pitchFamily="34" charset="-78"/>
                <a:ea typeface="+mj-ea"/>
                <a:cs typeface="IRANSans" panose="020B0506030804020204" pitchFamily="34" charset="-78"/>
              </a:rPr>
              <a:t>Second Section</a:t>
            </a: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CBCDD02-8301-8E02-281B-6C2399D25DE4}"/>
              </a:ext>
            </a:extLst>
          </p:cNvPr>
          <p:cNvSpPr/>
          <p:nvPr/>
        </p:nvSpPr>
        <p:spPr>
          <a:xfrm>
            <a:off x="2085421" y="1382141"/>
            <a:ext cx="538163" cy="538163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E53D65E3-EEF6-47D6-346F-DE00802AB07A}"/>
              </a:ext>
            </a:extLst>
          </p:cNvPr>
          <p:cNvSpPr/>
          <p:nvPr/>
        </p:nvSpPr>
        <p:spPr>
          <a:xfrm>
            <a:off x="10598044" y="4662017"/>
            <a:ext cx="250031" cy="250031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6055B3-809A-A068-C9AB-ACE0989CBCF5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5383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Few-Shot Learning with 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Augmentation at Feature Level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Augmentation at Instance Level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E50F8-0094-D473-017C-D159FF22F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3269405"/>
            <a:ext cx="7137400" cy="21463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8536A0-21F4-AF12-01EF-43F021661FB2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366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Meta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3F37B-8EC7-3898-3B1A-342603ABB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0" y="2116637"/>
            <a:ext cx="7061200" cy="38735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D2E271-C466-77EA-BC5E-68AF2274A0CA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763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Non-Parametric (Metric Based) Meta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B23D8E-FAB6-DA40-868B-A0FF26B83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632610"/>
            <a:ext cx="7467600" cy="247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A68F1-A1D8-F9E4-37F3-4E8B384A4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973" y="4160073"/>
            <a:ext cx="4191000" cy="20828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E1E1A27-F405-0D4E-5BC1-820C91C9824D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0788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9539D0-7395-883A-A675-EC24CAEEA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7" y="2666062"/>
            <a:ext cx="5867400" cy="3835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Open-Set Inherent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Detect Novel Classes and Ignore 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Weight Configuration in case of Novel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6F897-8E73-48BD-3A12-8C38FCB16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24" y="3429000"/>
            <a:ext cx="5552476" cy="2133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FD5DA43-147E-B275-3FFD-9802D8AA39D8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68736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Hierarchical Few-Shot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E00D7B-57C2-A490-ECFE-43AA1611C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097" y="2353294"/>
            <a:ext cx="8786751" cy="3157144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2BB17C3-5F6E-DBBD-18CE-CD3EACE65863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91438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2534D-6976-3B2C-88D6-5E7333A28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657" y="2317076"/>
            <a:ext cx="9510685" cy="3418705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2A52CA-0CAF-355C-76FA-4DE69D43D6E0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456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AFC2-5995-A339-1C9A-369E2FEFE35B}"/>
              </a:ext>
            </a:extLst>
          </p:cNvPr>
          <p:cNvSpPr txBox="1"/>
          <p:nvPr/>
        </p:nvSpPr>
        <p:spPr>
          <a:xfrm>
            <a:off x="1647592" y="2190544"/>
            <a:ext cx="85892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88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Proposed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F8B99-84C0-1D48-0102-A79A5B361799}"/>
              </a:ext>
            </a:extLst>
          </p:cNvPr>
          <p:cNvSpPr txBox="1"/>
          <p:nvPr/>
        </p:nvSpPr>
        <p:spPr>
          <a:xfrm>
            <a:off x="4605455" y="1777609"/>
            <a:ext cx="2333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32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" panose="020B0506030804020204" pitchFamily="34" charset="-78"/>
                <a:ea typeface="+mj-ea"/>
                <a:cs typeface="IRANSans" panose="020B0506030804020204" pitchFamily="34" charset="-78"/>
              </a:rPr>
              <a:t>Third Section</a:t>
            </a: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CBCDD02-8301-8E02-281B-6C2399D25DE4}"/>
              </a:ext>
            </a:extLst>
          </p:cNvPr>
          <p:cNvSpPr/>
          <p:nvPr/>
        </p:nvSpPr>
        <p:spPr>
          <a:xfrm>
            <a:off x="2085421" y="1382141"/>
            <a:ext cx="538163" cy="538163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E53D65E3-EEF6-47D6-346F-DE00802AB07A}"/>
              </a:ext>
            </a:extLst>
          </p:cNvPr>
          <p:cNvSpPr/>
          <p:nvPr/>
        </p:nvSpPr>
        <p:spPr>
          <a:xfrm>
            <a:off x="10598044" y="4662017"/>
            <a:ext cx="250031" cy="250031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EF52CB7-E4B4-3902-FBA3-3343914722FD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30025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Proposed Setting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28D83C-5EE1-6BEE-9C33-6863633C1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380" y="2129973"/>
            <a:ext cx="5387793" cy="2722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3C7B8-9421-0EFA-9094-38D401F13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175" y="2600082"/>
            <a:ext cx="4740825" cy="438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083FE3-B68C-B822-26C2-D76CF4014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402" y="3125646"/>
            <a:ext cx="3255861" cy="4382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B864FA-CD61-2D01-8B0D-D568AC3E0B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8240" y="3688539"/>
            <a:ext cx="4923117" cy="438290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FC2C791-87C8-BFB5-4991-AAD513CB9E58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82223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B93043-42A8-EE92-2698-EF43FC890C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29652" y="0"/>
            <a:ext cx="2062347" cy="64370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1991400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B8312-B53E-7056-9909-72C43FC28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033" y="1257481"/>
            <a:ext cx="4142399" cy="4983183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96C926-D57F-7FC3-6315-B461EEC581AD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17663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Coarse Grained Level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1991400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Semi Supervised Fine-Tuning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85DC0A-26EA-1C74-FB89-F3D34A71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99395"/>
            <a:ext cx="7772400" cy="859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003C46-9E9D-5F67-53A1-7AAD9E24F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4167069"/>
            <a:ext cx="7048500" cy="1143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CB6804-982C-A8E3-F670-8D0A8279035C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17312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287290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Pseudo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4CD22-89B9-51D4-0ADE-A71147F9C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280" y="1230072"/>
            <a:ext cx="7470386" cy="5181479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DB09744-A103-25AB-3F88-D67C3C057057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611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Fine Grained Level Classifier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DF93B-3F5B-E9A0-BCBC-270A1DB2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421" y="2103254"/>
            <a:ext cx="7772400" cy="812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DE2A81-5F34-1EB1-0F41-FCC988748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076054"/>
            <a:ext cx="7772400" cy="292527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1E393-9ACC-0CBA-402E-D845EF5BE6A6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9764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Fine Grained Level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1991400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We Observed in our Experiments that 		   is highly dominant for Handful number of </a:t>
            </a:r>
            <a:r>
              <a:rPr lang="en-US" dirty="0" err="1"/>
              <a:t>Superclasses</a:t>
            </a:r>
            <a:endParaRPr lang="en-US" dirty="0"/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00BBC-EAF3-07F4-267D-65E7B140D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01" y="2037194"/>
            <a:ext cx="1687689" cy="344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D52746-5403-DB7A-274D-11F0F7C48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673" y="2951715"/>
            <a:ext cx="4673600" cy="825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2612E6-30D4-AD28-171A-E701269BF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001" y="3524709"/>
            <a:ext cx="4849998" cy="107164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ADCD17C-38D5-3934-4DEE-9C0C4E5EBF22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489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99BCF8-B803-8D79-FAD9-91D8FF732318}"/>
              </a:ext>
            </a:extLst>
          </p:cNvPr>
          <p:cNvSpPr/>
          <p:nvPr/>
        </p:nvSpPr>
        <p:spPr>
          <a:xfrm>
            <a:off x="3489058" y="5055625"/>
            <a:ext cx="5168900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57150">
                <a:solidFill>
                  <a:schemeClr val="accent6">
                    <a:lumMod val="75000"/>
                  </a:schemeClr>
                </a:solidFill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Fine Grained Level Classifier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F49D9-A044-F8B2-764D-25E11BC0E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108" y="1676357"/>
            <a:ext cx="6654800" cy="2755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1FB68D-FD02-BAF6-9CEC-5B1FB0FA9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753" y="5103549"/>
            <a:ext cx="4704493" cy="97095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44F5-A1D8-0354-2AE9-465AFDF3C097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99919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EF88FA-DBFC-FCE7-8E85-D4CE29106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1" r="9539"/>
          <a:stretch/>
        </p:blipFill>
        <p:spPr>
          <a:xfrm>
            <a:off x="4807683" y="3194974"/>
            <a:ext cx="6812911" cy="30524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617336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Proposed Method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DB71BC-8CCF-A982-91FE-905AEB106E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9107" y="1706392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Foundation models </a:t>
                </a:r>
                <a:r>
                  <a:rPr lang="en-US" sz="2400" dirty="0"/>
                  <a:t>as backbones 𝑔</a:t>
                </a:r>
              </a:p>
              <a:p>
                <a:r>
                  <a:rPr lang="en-US" sz="2400" b="1" dirty="0"/>
                  <a:t>Coarse-grained</a:t>
                </a:r>
                <a:r>
                  <a:rPr lang="en-US" sz="2400" dirty="0"/>
                  <a:t> classifier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sz="2400" dirty="0"/>
                  <a:t>}</a:t>
                </a:r>
              </a:p>
              <a:p>
                <a:r>
                  <a:rPr lang="en-US" sz="2400" b="1" dirty="0"/>
                  <a:t>Semi-supervised</a:t>
                </a:r>
                <a:r>
                  <a:rPr lang="en-US" sz="2400" dirty="0"/>
                  <a:t> approach to reduce the effect of </a:t>
                </a:r>
                <a:r>
                  <a:rPr lang="en-US" sz="2400" b="1" dirty="0"/>
                  <a:t>distribution shift</a:t>
                </a:r>
              </a:p>
              <a:p>
                <a:r>
                  <a:rPr lang="en-US" sz="2400" b="1" dirty="0"/>
                  <a:t>Fine-grained </a:t>
                </a:r>
                <a:r>
                  <a:rPr lang="en-US" sz="2400" dirty="0"/>
                  <a:t>few-shot learner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b="1" dirty="0"/>
                  <a:t>Winner-takes-all</a:t>
                </a:r>
                <a:r>
                  <a:rPr lang="en-US" sz="2400" dirty="0"/>
                  <a:t> strategy</a:t>
                </a:r>
              </a:p>
              <a:p>
                <a: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DB71BC-8CCF-A982-91FE-905AEB106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107" y="1706392"/>
                <a:ext cx="10515600" cy="4351338"/>
              </a:xfrm>
              <a:blipFill>
                <a:blip r:embed="rId3"/>
                <a:stretch>
                  <a:fillRect l="-724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22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8E31B5-1899-0CAB-28E6-E250FB3A5396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20970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287290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Pseudo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507D5-52D2-A30A-C9B3-1FB3649C0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32" y="2152909"/>
            <a:ext cx="8429736" cy="330342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6F9917-2D9E-3140-F131-D993E4572B39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5118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AFC2-5995-A339-1C9A-369E2FEFE35B}"/>
              </a:ext>
            </a:extLst>
          </p:cNvPr>
          <p:cNvSpPr txBox="1"/>
          <p:nvPr/>
        </p:nvSpPr>
        <p:spPr>
          <a:xfrm>
            <a:off x="543524" y="2229883"/>
            <a:ext cx="85892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88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Experiments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F8B99-84C0-1D48-0102-A79A5B361799}"/>
              </a:ext>
            </a:extLst>
          </p:cNvPr>
          <p:cNvSpPr txBox="1"/>
          <p:nvPr/>
        </p:nvSpPr>
        <p:spPr>
          <a:xfrm>
            <a:off x="4605454" y="1777609"/>
            <a:ext cx="2709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32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" panose="020B0506030804020204" pitchFamily="34" charset="-78"/>
                <a:ea typeface="+mj-ea"/>
                <a:cs typeface="IRANSans" panose="020B0506030804020204" pitchFamily="34" charset="-78"/>
              </a:rPr>
              <a:t>Fourth Section</a:t>
            </a: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CBCDD02-8301-8E02-281B-6C2399D25DE4}"/>
              </a:ext>
            </a:extLst>
          </p:cNvPr>
          <p:cNvSpPr/>
          <p:nvPr/>
        </p:nvSpPr>
        <p:spPr>
          <a:xfrm>
            <a:off x="2085421" y="1382141"/>
            <a:ext cx="538163" cy="538163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E53D65E3-EEF6-47D6-346F-DE00802AB07A}"/>
              </a:ext>
            </a:extLst>
          </p:cNvPr>
          <p:cNvSpPr/>
          <p:nvPr/>
        </p:nvSpPr>
        <p:spPr>
          <a:xfrm>
            <a:off x="10598044" y="4662017"/>
            <a:ext cx="250031" cy="250031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0BAE7C-9C31-3FD3-154D-89998E70051F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0191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Dataset &amp; Backbones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86" y="5452805"/>
            <a:ext cx="10515600" cy="4351338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Backbones</a:t>
            </a:r>
            <a:r>
              <a:rPr lang="en-US" sz="2800" dirty="0">
                <a:latin typeface="+mn-lt"/>
              </a:rPr>
              <a:t>: Dino v2 series, CLIP,</a:t>
            </a:r>
            <a:r>
              <a:rPr lang="en-US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ConvNext</a:t>
            </a:r>
            <a:r>
              <a:rPr lang="en-US" sz="2800" dirty="0">
                <a:latin typeface="+mn-lt"/>
              </a:rPr>
              <a:t> v2, </a:t>
            </a:r>
            <a:r>
              <a:rPr lang="en-US" sz="2800" dirty="0" err="1">
                <a:latin typeface="+mn-lt"/>
              </a:rPr>
              <a:t>MobileNet</a:t>
            </a:r>
            <a:r>
              <a:rPr lang="en-US" sz="2800" dirty="0">
                <a:latin typeface="+mn-lt"/>
              </a:rPr>
              <a:t> v3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981C5-E77D-5627-5022-9B89E8ABD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323" y="2596021"/>
            <a:ext cx="6718300" cy="17272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D96A57A-D926-A601-3980-270BC6F44F02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15612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iNat</a:t>
            </a:r>
            <a:r>
              <a:rPr lang="en-US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EA5C7E-FDE7-CD83-91F6-E908CC047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823" y="1947790"/>
            <a:ext cx="6337300" cy="41529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53F2727-A980-33D5-F8F0-3CBE166FD83D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1642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Coarse Grained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4AA93-ABCC-E6AA-0D20-9B745612F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1" y="2747582"/>
            <a:ext cx="10763336" cy="2123869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AFDB009-F81B-749B-411D-B4F814787EDD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72932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Fine Grained Results (Animalia)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EB17C-A572-F834-284A-63A5ADA8A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96" y="1650413"/>
            <a:ext cx="7759700" cy="4546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8E9322-F76B-18EC-47EB-2C2DE9705DBA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64435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Fine Grained Results (Plantae)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4622A-6E53-3339-E681-5885BD97E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473" y="1642886"/>
            <a:ext cx="7620000" cy="4673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4FE9A6-2ACD-9221-AA1C-E21A1191214E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4334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Free Training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76DAF-D159-0E70-2CFC-F4A4CBB4E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596" y="2492428"/>
            <a:ext cx="7620000" cy="28702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76E3636-AB81-A357-FCE2-CFAF1D04D259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13071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Free Training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00A08-335F-0799-F8A9-7498650C6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83042"/>
            <a:ext cx="7620000" cy="28575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7E34E1-86B9-E9BE-DBA5-56A11E059110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52746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9279F3-6759-C305-F9A0-73986050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919" y="713132"/>
            <a:ext cx="6584354" cy="56984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180159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Results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2753497" cy="4351338"/>
          </a:xfrm>
        </p:spPr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Upper Row is Animalia Dataset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Right Column is Free Training Setting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32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B2949FD-0B14-3683-E664-1DC550886BB4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50227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Embeddings Visualization (T-SNE)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F17250-A4E7-8148-FDF1-CC7459DC8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36" y="1655637"/>
            <a:ext cx="9273527" cy="478139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C59F0-DB4B-1BC6-0CD7-C060CCBFD277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b="1" dirty="0"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dirty="0">
              <a:solidFill>
                <a:schemeClr val="bg1">
                  <a:lumMod val="50000"/>
                </a:schemeClr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4464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34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24FE4C-B578-6EEC-BA48-9BBDE2D42889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b="1" dirty="0"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AFC2-5995-A339-1C9A-369E2FEFE35B}"/>
              </a:ext>
            </a:extLst>
          </p:cNvPr>
          <p:cNvSpPr txBox="1"/>
          <p:nvPr/>
        </p:nvSpPr>
        <p:spPr>
          <a:xfrm>
            <a:off x="378375" y="2229883"/>
            <a:ext cx="85892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88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F8B99-84C0-1D48-0102-A79A5B361799}"/>
              </a:ext>
            </a:extLst>
          </p:cNvPr>
          <p:cNvSpPr txBox="1"/>
          <p:nvPr/>
        </p:nvSpPr>
        <p:spPr>
          <a:xfrm>
            <a:off x="4605454" y="1777609"/>
            <a:ext cx="2709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3200" b="1" spc="-150" dirty="0">
                <a:blipFill dpi="0" rotWithShape="1">
                  <a:blip r:embed="rId3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" panose="020B0506030804020204" pitchFamily="34" charset="-78"/>
                <a:ea typeface="+mj-ea"/>
                <a:cs typeface="IRANSans" panose="020B0506030804020204" pitchFamily="34" charset="-78"/>
              </a:rPr>
              <a:t>Fifth Section</a:t>
            </a: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CBCDD02-8301-8E02-281B-6C2399D25DE4}"/>
              </a:ext>
            </a:extLst>
          </p:cNvPr>
          <p:cNvSpPr/>
          <p:nvPr/>
        </p:nvSpPr>
        <p:spPr>
          <a:xfrm>
            <a:off x="2085421" y="1382141"/>
            <a:ext cx="538163" cy="538163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E53D65E3-EEF6-47D6-346F-DE00802AB07A}"/>
              </a:ext>
            </a:extLst>
          </p:cNvPr>
          <p:cNvSpPr/>
          <p:nvPr/>
        </p:nvSpPr>
        <p:spPr>
          <a:xfrm>
            <a:off x="10598044" y="4662017"/>
            <a:ext cx="250031" cy="250031"/>
          </a:xfrm>
          <a:prstGeom prst="plus">
            <a:avLst>
              <a:gd name="adj" fmla="val 3975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96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3" y="2068337"/>
            <a:ext cx="10515600" cy="4351338"/>
          </a:xfrm>
        </p:spPr>
        <p:txBody>
          <a:bodyPr/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US" dirty="0"/>
              <a:t>Hierarchy-aware large-scale few-shot classification method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US" dirty="0"/>
              <a:t>Role of pre-trained foundation models as rich embedding networks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US" dirty="0"/>
              <a:t>Semi-supervised approach for alleviating sub-population shift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US" dirty="0"/>
              <a:t>Utilizing a Multi-Task Learning Framework in Fine Grained Level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US" dirty="0"/>
              <a:t>Free-training setting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US" dirty="0"/>
              <a:t>Fast convergence and computational efficiency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35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3614AD4-3461-28E2-CBA5-B71771A02F6D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b="1" dirty="0"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40770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494E-1E08-408C-8BC1-748BED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73" y="660987"/>
            <a:ext cx="10515600" cy="1325563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71BC-8CCF-A982-91FE-905AEB1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089" y="2296179"/>
            <a:ext cx="10515600" cy="4351338"/>
          </a:xfrm>
        </p:spPr>
        <p:txBody>
          <a:bodyPr>
            <a:normAutofit/>
          </a:bodyPr>
          <a:lstStyle/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Improving Coarse Grained Classifiers to Achieve the Accuracy of Oracle</a:t>
            </a:r>
          </a:p>
          <a:p>
            <a: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Considering Open-Set Feature at Coarse Grained Level as well as Fine Grained Level by Some Approaches Like weight Imprinting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36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12D9E43-9415-963A-F1D3-3687335150C4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b="1" dirty="0"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45350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61FBA7-C1A4-F84A-AA96-6E439B522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8888"/>
            <a:ext cx="7772400" cy="64784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83C0F5-34A0-7B84-D2A3-AEDBE3A6B00E}"/>
              </a:ext>
            </a:extLst>
          </p:cNvPr>
          <p:cNvSpPr/>
          <p:nvPr/>
        </p:nvSpPr>
        <p:spPr>
          <a:xfrm>
            <a:off x="0" y="6437033"/>
            <a:ext cx="12192000" cy="420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2DFE2-71CF-3E1E-AA70-2640CEA16EFD}"/>
              </a:ext>
            </a:extLst>
          </p:cNvPr>
          <p:cNvGrpSpPr/>
          <p:nvPr/>
        </p:nvGrpSpPr>
        <p:grpSpPr>
          <a:xfrm>
            <a:off x="378375" y="226905"/>
            <a:ext cx="11524518" cy="341930"/>
            <a:chOff x="378375" y="226905"/>
            <a:chExt cx="11524518" cy="3419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718084-1F78-0F77-4BDA-1981B72B20C3}"/>
                </a:ext>
              </a:extLst>
            </p:cNvPr>
            <p:cNvGrpSpPr/>
            <p:nvPr/>
          </p:nvGrpSpPr>
          <p:grpSpPr>
            <a:xfrm>
              <a:off x="378375" y="226905"/>
              <a:ext cx="3083795" cy="341930"/>
              <a:chOff x="221918" y="105955"/>
              <a:chExt cx="3192401" cy="34193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81BD17-2C92-9253-BEC7-ACC592F1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1918" y="105955"/>
                <a:ext cx="341931" cy="341930"/>
              </a:xfrm>
              <a:prstGeom prst="rect">
                <a:avLst/>
              </a:prstGeom>
            </p:spPr>
          </p:pic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17767854-CD87-CD99-5D31-ED12F9B1A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849" y="154456"/>
                <a:ext cx="2850470" cy="244929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l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b="0" dirty="0">
                    <a:solidFill>
                      <a:schemeClr val="bg1">
                        <a:lumMod val="50000"/>
                      </a:schemeClr>
                    </a:solidFill>
                  </a:rPr>
                  <a:t>دانشکده مهندسی کامپیوتر  </a:t>
                </a:r>
                <a:r>
                  <a:rPr lang="fa-IR" sz="1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دانشگاه صنعتی شریف  </a:t>
                </a:r>
                <a:endParaRPr lang="en-US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CAF29C-79C9-C33C-9213-052069F9B876}"/>
                </a:ext>
              </a:extLst>
            </p:cNvPr>
            <p:cNvGrpSpPr/>
            <p:nvPr/>
          </p:nvGrpSpPr>
          <p:grpSpPr>
            <a:xfrm>
              <a:off x="7914299" y="245275"/>
              <a:ext cx="3988594" cy="285625"/>
              <a:chOff x="5349774" y="1506764"/>
              <a:chExt cx="3988594" cy="285625"/>
            </a:xfrm>
          </p:grpSpPr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5B917C5A-D9FB-FFB2-8446-E35CEFCBB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774" y="1506764"/>
                <a:ext cx="3988594" cy="184987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bg1"/>
                    </a:solidFill>
                    <a:latin typeface="IRANSans" panose="02040503050201020203" pitchFamily="18" charset="-78"/>
                    <a:ea typeface="+mj-ea"/>
                    <a:cs typeface="IRANSans" panose="02040503050201020203" pitchFamily="18" charset="-78"/>
                  </a:defRPr>
                </a:lvl1pPr>
              </a:lstStyle>
              <a:p>
                <a:pPr marL="0" marR="0" lvl="0" indent="0" algn="r" defTabSz="914400" rtl="1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100" dirty="0">
                    <a:solidFill>
                      <a:schemeClr val="tx1"/>
                    </a:solidFill>
                  </a:rPr>
                  <a:t>دسته بندی در </a:t>
                </a:r>
                <a:r>
                  <a:rPr lang="fa-IR" sz="1100" dirty="0" err="1">
                    <a:solidFill>
                      <a:schemeClr val="tx1"/>
                    </a:solidFill>
                  </a:rPr>
                  <a:t>دسته‌های</a:t>
                </a:r>
                <a:r>
                  <a:rPr lang="fa-IR" sz="1100" dirty="0">
                    <a:solidFill>
                      <a:schemeClr val="tx1"/>
                    </a:solidFill>
                  </a:rPr>
                  <a:t> زیاد با تعداد نمونه محدود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100" dirty="0">
                    <a:solidFill>
                      <a:schemeClr val="tx1"/>
                    </a:solidFill>
                  </a:rPr>
                  <a:t>   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fa-IR" sz="1400" b="0" baseline="0" dirty="0">
                    <a:solidFill>
                      <a:schemeClr val="tx1"/>
                    </a:solidFill>
                  </a:rPr>
                  <a:t>محمدرضا فریدونی</a:t>
                </a:r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A248061-736C-3D33-3C6E-F4FF75904FD6}"/>
                  </a:ext>
                </a:extLst>
              </p:cNvPr>
              <p:cNvCxnSpPr/>
              <p:nvPr/>
            </p:nvCxnSpPr>
            <p:spPr>
              <a:xfrm>
                <a:off x="6836383" y="1506764"/>
                <a:ext cx="0" cy="2856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087F-32A1-EBE4-BC6A-F728241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67B8-CDBF-E44A-A4FB-603F8C56358D}" type="slidenum">
              <a:rPr lang="en-US" smtClean="0"/>
              <a:t>37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AFC2-5995-A339-1C9A-369E2FEFE35B}"/>
              </a:ext>
            </a:extLst>
          </p:cNvPr>
          <p:cNvSpPr txBox="1"/>
          <p:nvPr/>
        </p:nvSpPr>
        <p:spPr>
          <a:xfrm>
            <a:off x="543524" y="672876"/>
            <a:ext cx="109078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4000" b="1" spc="-150" dirty="0">
                <a:blipFill dpi="0" rotWithShape="1">
                  <a:blip r:embed="rId4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See Also our Paper Accepted at </a:t>
            </a:r>
            <a:r>
              <a:rPr lang="en-US" sz="4000" b="1" spc="-150" dirty="0" err="1">
                <a:blipFill dpi="0" rotWithShape="1">
                  <a:blip r:embed="rId4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Neurips</a:t>
            </a:r>
            <a:r>
              <a:rPr lang="en-US" sz="4000" b="1" spc="-150" dirty="0">
                <a:blipFill dpi="0" rotWithShape="1">
                  <a:blip r:embed="rId4"/>
                  <a:srcRect/>
                  <a:tile tx="-228600" ty="-2432050" sx="50000" sy="50000" flip="none" algn="tl"/>
                </a:blipFill>
                <a:effectLst>
                  <a:outerShdw blurRad="165100" dist="152400" dir="5400000" sx="99000" sy="99000" algn="t" rotWithShape="0">
                    <a:prstClr val="black">
                      <a:alpha val="39000"/>
                    </a:prstClr>
                  </a:outerShdw>
                </a:effectLst>
                <a:latin typeface="IRANSans Black" panose="020B0506030804020204" pitchFamily="34" charset="-78"/>
                <a:ea typeface="+mj-ea"/>
                <a:cs typeface="IRANSans Black" panose="020B0506030804020204" pitchFamily="34" charset="-78"/>
              </a:rPr>
              <a:t> 2023 R0-FoMo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C707A5-C760-CA2F-ACB3-EBD3195C7A97}"/>
              </a:ext>
            </a:extLst>
          </p:cNvPr>
          <p:cNvGrpSpPr/>
          <p:nvPr/>
        </p:nvGrpSpPr>
        <p:grpSpPr>
          <a:xfrm>
            <a:off x="521150" y="589382"/>
            <a:ext cx="375046" cy="444134"/>
            <a:chOff x="3328472" y="606899"/>
            <a:chExt cx="375046" cy="444134"/>
          </a:xfrm>
        </p:grpSpPr>
        <p:sp>
          <p:nvSpPr>
            <p:cNvPr id="18" name="Cross 17">
              <a:extLst>
                <a:ext uri="{FF2B5EF4-FFF2-40B4-BE49-F238E27FC236}">
                  <a16:creationId xmlns:a16="http://schemas.microsoft.com/office/drawing/2014/main" id="{E53D65E3-EEF6-47D6-346F-DE00802AB07A}"/>
                </a:ext>
              </a:extLst>
            </p:cNvPr>
            <p:cNvSpPr/>
            <p:nvPr/>
          </p:nvSpPr>
          <p:spPr>
            <a:xfrm>
              <a:off x="3328472" y="801002"/>
              <a:ext cx="250031" cy="250031"/>
            </a:xfrm>
            <a:prstGeom prst="plus">
              <a:avLst>
                <a:gd name="adj" fmla="val 39751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ross 1">
              <a:extLst>
                <a:ext uri="{FF2B5EF4-FFF2-40B4-BE49-F238E27FC236}">
                  <a16:creationId xmlns:a16="http://schemas.microsoft.com/office/drawing/2014/main" id="{E8D8879E-7A3B-6695-176A-786BD6347870}"/>
                </a:ext>
              </a:extLst>
            </p:cNvPr>
            <p:cNvSpPr/>
            <p:nvPr/>
          </p:nvSpPr>
          <p:spPr>
            <a:xfrm>
              <a:off x="3453487" y="606899"/>
              <a:ext cx="250031" cy="250031"/>
            </a:xfrm>
            <a:prstGeom prst="plus">
              <a:avLst>
                <a:gd name="adj" fmla="val 39751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68612BA-DF7D-6FA3-1B69-57CE70493874}"/>
              </a:ext>
            </a:extLst>
          </p:cNvPr>
          <p:cNvSpPr txBox="1">
            <a:spLocks/>
          </p:cNvSpPr>
          <p:nvPr/>
        </p:nvSpPr>
        <p:spPr>
          <a:xfrm>
            <a:off x="4115542" y="6487996"/>
            <a:ext cx="7907337" cy="249458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chemeClr val="accent1">
                  <a:lumMod val="75000"/>
                </a:schemeClr>
              </a:buClr>
            </a:pP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مـق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ــدمـــــه‌  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󠆭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پژوهش‌های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پیشین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راهکار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پیشنهادی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dirty="0" err="1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آزمایش‌ها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ارزیابی </a:t>
            </a:r>
            <a:r>
              <a:rPr lang="fa-IR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◄</a:t>
            </a:r>
            <a:r>
              <a:rPr lang="fa-IR" sz="1600" dirty="0">
                <a:solidFill>
                  <a:schemeClr val="bg1">
                    <a:lumMod val="50000"/>
                  </a:schemeClr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600" b="1" dirty="0" err="1">
                <a:latin typeface="IRANSans" panose="020B0506030804020204" pitchFamily="34" charset="-78"/>
                <a:cs typeface="IRANSans" panose="020B0506030804020204" pitchFamily="34" charset="-78"/>
              </a:rPr>
              <a:t>نتیجه‌گیری</a:t>
            </a:r>
            <a:endParaRPr lang="fa-IR" sz="1600" b="1" dirty="0"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7259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0" r="12670"/>
          <a:stretch/>
        </p:blipFill>
        <p:spPr>
          <a:xfrm>
            <a:off x="0" y="1"/>
            <a:ext cx="12191999" cy="68829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" y="0"/>
            <a:ext cx="12191998" cy="6857999"/>
          </a:xfrm>
          <a:prstGeom prst="rect">
            <a:avLst/>
          </a:prstGeom>
          <a:solidFill>
            <a:srgbClr val="26262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50593" y="1174535"/>
            <a:ext cx="10690812" cy="450892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8700" dirty="0">
                <a:solidFill>
                  <a:schemeClr val="bg1">
                    <a:alpha val="75000"/>
                  </a:schemeClr>
                </a:solidFill>
                <a:latin typeface="IRANSans" panose="02040503050201020203" pitchFamily="18" charset="-78"/>
                <a:ea typeface="Noto Sans" panose="020B0502040504020204" pitchFamily="34" charset="0"/>
                <a:cs typeface="IRANSans" panose="02040503050201020203" pitchFamily="18" charset="-78"/>
              </a:rPr>
              <a:t>Thanks</a:t>
            </a:r>
            <a:endParaRPr lang="en-US" sz="4000" dirty="0">
              <a:solidFill>
                <a:schemeClr val="bg1">
                  <a:alpha val="75000"/>
                </a:schemeClr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6705600"/>
            <a:ext cx="0" cy="63500"/>
          </a:xfrm>
          <a:prstGeom prst="rect">
            <a:avLst/>
          </a:prstGeom>
          <a:solidFill>
            <a:srgbClr val="6464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/>
          <p:cNvSpPr/>
          <p:nvPr/>
        </p:nvSpPr>
        <p:spPr>
          <a:xfrm rot="2700000">
            <a:off x="1888418" y="852446"/>
            <a:ext cx="372667" cy="372667"/>
          </a:xfrm>
          <a:prstGeom prst="plus">
            <a:avLst>
              <a:gd name="adj" fmla="val 39751"/>
            </a:avLst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/>
          <p:cNvSpPr/>
          <p:nvPr/>
        </p:nvSpPr>
        <p:spPr>
          <a:xfrm rot="18900000">
            <a:off x="8663221" y="1078341"/>
            <a:ext cx="846506" cy="846506"/>
          </a:xfrm>
          <a:prstGeom prst="plus">
            <a:avLst>
              <a:gd name="adj" fmla="val 39751"/>
            </a:avLst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/>
          <p:cNvSpPr/>
          <p:nvPr/>
        </p:nvSpPr>
        <p:spPr>
          <a:xfrm rot="2700000">
            <a:off x="4768800" y="5530788"/>
            <a:ext cx="574025" cy="574025"/>
          </a:xfrm>
          <a:prstGeom prst="plus">
            <a:avLst>
              <a:gd name="adj" fmla="val 39751"/>
            </a:avLst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0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1716</Words>
  <Application>Microsoft Macintosh PowerPoint</Application>
  <PresentationFormat>Widescreen</PresentationFormat>
  <Paragraphs>258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IRANSans</vt:lpstr>
      <vt:lpstr>IRANSans Black</vt:lpstr>
      <vt:lpstr>Office Theme</vt:lpstr>
      <vt:lpstr>Large-Scale Few-Shot Classification</vt:lpstr>
      <vt:lpstr>PowerPoint Presentation</vt:lpstr>
      <vt:lpstr>Problem Definition</vt:lpstr>
      <vt:lpstr>PowerPoint Presentation</vt:lpstr>
      <vt:lpstr>Challenges</vt:lpstr>
      <vt:lpstr>Main Contribution</vt:lpstr>
      <vt:lpstr>PowerPoint Presentation</vt:lpstr>
      <vt:lpstr>Few-Shot Learning with Data Augmentation</vt:lpstr>
      <vt:lpstr>Meta Learning</vt:lpstr>
      <vt:lpstr>Non-Parametric (Metric Based) Meta Learning</vt:lpstr>
      <vt:lpstr>Open-Set Inherent Feature</vt:lpstr>
      <vt:lpstr>Hierarchical Few-Shot Learning</vt:lpstr>
      <vt:lpstr>Summary</vt:lpstr>
      <vt:lpstr>PowerPoint Presentation</vt:lpstr>
      <vt:lpstr>Proposed Setting</vt:lpstr>
      <vt:lpstr>Notation</vt:lpstr>
      <vt:lpstr>Coarse Grained Level Classifier</vt:lpstr>
      <vt:lpstr>Pseudo Code</vt:lpstr>
      <vt:lpstr>Fine Grained Level Classifier</vt:lpstr>
      <vt:lpstr>Fine Grained Level Classifier</vt:lpstr>
      <vt:lpstr>Fine Grained Level Classifier</vt:lpstr>
      <vt:lpstr>Proposed Method Review</vt:lpstr>
      <vt:lpstr>Pseudo Code</vt:lpstr>
      <vt:lpstr>PowerPoint Presentation</vt:lpstr>
      <vt:lpstr>Dataset &amp; Backbones</vt:lpstr>
      <vt:lpstr>iNat Dataset</vt:lpstr>
      <vt:lpstr>Coarse Grained Results</vt:lpstr>
      <vt:lpstr>Fine Grained Results (Animalia)</vt:lpstr>
      <vt:lpstr>Fine Grained Results (Plantae)</vt:lpstr>
      <vt:lpstr>Free Training Results</vt:lpstr>
      <vt:lpstr>Free Training Results</vt:lpstr>
      <vt:lpstr>Results Overview</vt:lpstr>
      <vt:lpstr>Embeddings Visualization (T-SNE)</vt:lpstr>
      <vt:lpstr>PowerPoint Presentation</vt:lpstr>
      <vt:lpstr>Strengths</vt:lpstr>
      <vt:lpstr>Future Works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112</cp:revision>
  <dcterms:created xsi:type="dcterms:W3CDTF">2024-02-17T14:36:46Z</dcterms:created>
  <dcterms:modified xsi:type="dcterms:W3CDTF">2024-02-19T06:32:52Z</dcterms:modified>
</cp:coreProperties>
</file>